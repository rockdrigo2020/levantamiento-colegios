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743bfbd-2a01-958f-7fb3-fde36b54eab4}">
          <p14:sldIdLst>
            <p14:sldId id="256"/>
          </p14:sldIdLst>
        </p14:section>
        <p14:section name="Perfiles" id="{a5ab61a0-13c7-96d5-57db-867faba70a40}">
          <p14:sldIdLst>
            <p14:sldId id="257"/>
            <p14:sldId id="258"/>
          </p14:sldIdLst>
        </p14:section>
        <p14:section name="Detalle por perfil" id="{3e52d659-b6a1-c062-10a5-43ed57d2107d}">
          <p14:sldIdLst>
            <p14:sldId id="259"/>
            <p14:sldId id="260"/>
            <p14:sldId id="261"/>
            <p14:sldId id="262"/>
          </p14:sldIdLst>
        </p14:section>
        <p14:section name="Flujo" id="{c465300d-5345-d197-0a39-8298d70465ab}">
          <p14:sldIdLst>
            <p14:sldId id="263"/>
          </p14:sldIdLst>
        </p14:section>
        <p14:section name="Cierre" id="{f611b132-de98-2ae6-b85c-886266b3a2c8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accesos de cada perfil de LevantApp: qué pestañas ve, qué puede hacer y qué datos alcanza.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8E6E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C7A"/>
                </a:solidFill>
              </a:rPr>
              <a:t>LevantApp · SLEP Puelche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puede hacer qué en LevantApp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8E6E2"/>
                </a:solidFill>
              </a:rPr>
              <a:t>Accesos por perfil · SLEP Puelche · octubre 2026</a:t>
            </a:r>
            <a:endParaRPr lang="en-US" sz="1800" dirty="0"/>
          </a:p>
        </p:txBody>
      </p:sp>
      <p:sp>
        <p:nvSpPr>
          <p:cNvPr id="4" name="icono-fondo"/>
          <p:cNvSpPr/>
          <p:nvPr/>
        </p:nvSpPr>
        <p:spPr>
          <a:xfrm>
            <a:off x="9052560" y="914400"/>
            <a:ext cx="777240" cy="7772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870" y="1108710"/>
            <a:ext cx="388620" cy="388620"/>
          </a:xfrm>
          <a:prstGeom prst="rect">
            <a:avLst/>
          </a:prstGeom>
        </p:spPr>
      </p:pic>
      <p:sp>
        <p:nvSpPr>
          <p:cNvPr id="6" name="perfil-Infraestructura"/>
          <p:cNvSpPr txBox="1"/>
          <p:nvPr/>
        </p:nvSpPr>
        <p:spPr>
          <a:xfrm>
            <a:off x="9966960" y="914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Infraestructura</a:t>
            </a:r>
            <a:endParaRPr lang="en-US" sz="1600" dirty="0"/>
          </a:p>
        </p:txBody>
      </p:sp>
      <p:sp>
        <p:nvSpPr>
          <p:cNvPr id="7" name="icono-fondo"/>
          <p:cNvSpPr/>
          <p:nvPr/>
        </p:nvSpPr>
        <p:spPr>
          <a:xfrm>
            <a:off x="9052560" y="1965960"/>
            <a:ext cx="777240" cy="777240"/>
          </a:xfrm>
          <a:prstGeom prst="ellipse">
            <a:avLst/>
          </a:prstGeom>
          <a:solidFill>
            <a:srgbClr val="5B7C7A"/>
          </a:solidFill>
          <a:ln w="12700">
            <a:solidFill>
              <a:srgbClr val="5B7C7A"/>
            </a:solidFill>
            <a:prstDash val="solid"/>
          </a:ln>
        </p:spPr>
      </p:sp>
      <p:pic>
        <p:nvPicPr>
          <p:cNvPr id="8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870" y="2160270"/>
            <a:ext cx="388620" cy="388620"/>
          </a:xfrm>
          <a:prstGeom prst="rect">
            <a:avLst/>
          </a:prstGeom>
        </p:spPr>
      </p:pic>
      <p:sp>
        <p:nvSpPr>
          <p:cNvPr id="9" name="perfil-Coordinador"/>
          <p:cNvSpPr txBox="1"/>
          <p:nvPr/>
        </p:nvSpPr>
        <p:spPr>
          <a:xfrm>
            <a:off x="9966960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Coordinador</a:t>
            </a:r>
            <a:endParaRPr lang="en-US" sz="1600" dirty="0"/>
          </a:p>
        </p:txBody>
      </p:sp>
      <p:sp>
        <p:nvSpPr>
          <p:cNvPr id="10" name="icono-fondo"/>
          <p:cNvSpPr/>
          <p:nvPr/>
        </p:nvSpPr>
        <p:spPr>
          <a:xfrm>
            <a:off x="9052560" y="3017520"/>
            <a:ext cx="777240" cy="7772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1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870" y="3211830"/>
            <a:ext cx="388620" cy="388620"/>
          </a:xfrm>
          <a:prstGeom prst="rect">
            <a:avLst/>
          </a:prstGeom>
        </p:spPr>
      </p:pic>
      <p:sp>
        <p:nvSpPr>
          <p:cNvPr id="12" name="perfil-Bodega"/>
          <p:cNvSpPr txBox="1"/>
          <p:nvPr/>
        </p:nvSpPr>
        <p:spPr>
          <a:xfrm>
            <a:off x="996696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Bodega</a:t>
            </a:r>
            <a:endParaRPr lang="en-US" sz="1600" dirty="0"/>
          </a:p>
        </p:txBody>
      </p:sp>
      <p:sp>
        <p:nvSpPr>
          <p:cNvPr id="13" name="icono-fondo"/>
          <p:cNvSpPr/>
          <p:nvPr/>
        </p:nvSpPr>
        <p:spPr>
          <a:xfrm>
            <a:off x="9052560" y="4069080"/>
            <a:ext cx="777240" cy="77724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4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870" y="4263390"/>
            <a:ext cx="388620" cy="388620"/>
          </a:xfrm>
          <a:prstGeom prst="rect">
            <a:avLst/>
          </a:prstGeom>
        </p:spPr>
      </p:pic>
      <p:sp>
        <p:nvSpPr>
          <p:cNvPr id="15" name="perfil-Director"/>
          <p:cNvSpPr txBox="1"/>
          <p:nvPr/>
        </p:nvSpPr>
        <p:spPr>
          <a:xfrm>
            <a:off x="9966960" y="4069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Director</a:t>
            </a:r>
            <a:endParaRPr lang="en-US" sz="1600" dirty="0"/>
          </a:p>
        </p:txBody>
      </p:sp>
      <p:sp>
        <p:nvSpPr>
          <p:cNvPr id="16" name="icono-fondo"/>
          <p:cNvSpPr/>
          <p:nvPr/>
        </p:nvSpPr>
        <p:spPr>
          <a:xfrm>
            <a:off x="9052560" y="5120640"/>
            <a:ext cx="777240" cy="7772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7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870" y="5314950"/>
            <a:ext cx="388620" cy="388620"/>
          </a:xfrm>
          <a:prstGeom prst="rect">
            <a:avLst/>
          </a:prstGeom>
        </p:spPr>
      </p:pic>
      <p:sp>
        <p:nvSpPr>
          <p:cNvPr id="18" name="perfil-Maestro"/>
          <p:cNvSpPr txBox="1"/>
          <p:nvPr/>
        </p:nvSpPr>
        <p:spPr>
          <a:xfrm>
            <a:off x="9966960" y="5120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Maestro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perfiles, cinco responsabilidades</a:t>
            </a:r>
            <a:endParaRPr lang="en-US" sz="3600" dirty="0"/>
          </a:p>
        </p:txBody>
      </p:sp>
      <p:sp>
        <p:nvSpPr>
          <p:cNvPr id="3" name="tarjeta-Infraestructura"/>
          <p:cNvSpPr/>
          <p:nvPr/>
        </p:nvSpPr>
        <p:spPr>
          <a:xfrm>
            <a:off x="548640" y="1554480"/>
            <a:ext cx="2103120" cy="3749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-fondo"/>
          <p:cNvSpPr/>
          <p:nvPr/>
        </p:nvSpPr>
        <p:spPr>
          <a:xfrm>
            <a:off x="731520" y="1783080"/>
            <a:ext cx="822960" cy="8229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383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Administra y prioriza toda la red</a:t>
            </a:r>
            <a:endParaRPr lang="en-US" sz="1600" dirty="0"/>
          </a:p>
        </p:txBody>
      </p:sp>
      <p:sp>
        <p:nvSpPr>
          <p:cNvPr id="8" name="tarjeta-Coordinador"/>
          <p:cNvSpPr/>
          <p:nvPr/>
        </p:nvSpPr>
        <p:spPr>
          <a:xfrm>
            <a:off x="2788920" y="1554480"/>
            <a:ext cx="2103120" cy="3749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-fondo"/>
          <p:cNvSpPr/>
          <p:nvPr/>
        </p:nvSpPr>
        <p:spPr>
          <a:xfrm>
            <a:off x="2971800" y="1783080"/>
            <a:ext cx="822960" cy="822960"/>
          </a:xfrm>
          <a:prstGeom prst="ellipse">
            <a:avLst/>
          </a:prstGeom>
          <a:solidFill>
            <a:srgbClr val="5B7C7A"/>
          </a:solidFill>
          <a:ln w="12700">
            <a:solidFill>
              <a:srgbClr val="5B7C7A"/>
            </a:solidFill>
            <a:prstDash val="solid"/>
          </a:ln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40" y="19888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803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Coordinador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3383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Asigna colegios y organiza las rutas</a:t>
            </a:r>
            <a:endParaRPr lang="en-US" sz="1600" dirty="0"/>
          </a:p>
        </p:txBody>
      </p:sp>
      <p:sp>
        <p:nvSpPr>
          <p:cNvPr id="13" name="tarjeta-Bodega"/>
          <p:cNvSpPr/>
          <p:nvPr/>
        </p:nvSpPr>
        <p:spPr>
          <a:xfrm>
            <a:off x="5029200" y="1554480"/>
            <a:ext cx="2103120" cy="3749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o-fondo"/>
          <p:cNvSpPr/>
          <p:nvPr/>
        </p:nvSpPr>
        <p:spPr>
          <a:xfrm>
            <a:off x="5212080" y="1783080"/>
            <a:ext cx="822960" cy="82296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5" name="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9888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2064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Bodega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166360" y="3383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 materiales y custodia herramientas</a:t>
            </a:r>
            <a:endParaRPr lang="en-US" sz="1600" dirty="0"/>
          </a:p>
        </p:txBody>
      </p:sp>
      <p:sp>
        <p:nvSpPr>
          <p:cNvPr id="18" name="tarjeta-Director"/>
          <p:cNvSpPr/>
          <p:nvPr/>
        </p:nvSpPr>
        <p:spPr>
          <a:xfrm>
            <a:off x="7269480" y="1554480"/>
            <a:ext cx="2103120" cy="3749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o-fondo"/>
          <p:cNvSpPr/>
          <p:nvPr/>
        </p:nvSpPr>
        <p:spPr>
          <a:xfrm>
            <a:off x="7452360" y="1783080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20" name="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98882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406640" y="3383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Reporta las fallas de su colegio</a:t>
            </a:r>
            <a:endParaRPr lang="en-US" sz="1600" dirty="0"/>
          </a:p>
        </p:txBody>
      </p:sp>
      <p:sp>
        <p:nvSpPr>
          <p:cNvPr id="23" name="tarjeta-Maestro"/>
          <p:cNvSpPr/>
          <p:nvPr/>
        </p:nvSpPr>
        <p:spPr>
          <a:xfrm>
            <a:off x="9509760" y="1554480"/>
            <a:ext cx="2103120" cy="374904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o-fondo"/>
          <p:cNvSpPr/>
          <p:nvPr/>
        </p:nvSpPr>
        <p:spPr>
          <a:xfrm>
            <a:off x="9692640" y="1783080"/>
            <a:ext cx="822960" cy="8229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5" name="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8380" y="198882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0120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9646920" y="33832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Ejecuta y registra los trabajos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C7A"/>
                </a:solidFill>
              </a:rPr>
              <a:t>El gestor de cada comuna no es un perfil de la app: da el OK de cierre desde un enlace que le llega por correo.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pestañas ve cada perfil</a:t>
            </a:r>
            <a:endParaRPr lang="en-US" sz="3600" dirty="0"/>
          </a:p>
        </p:txBody>
      </p:sp>
      <p:graphicFrame>
        <p:nvGraphicFramePr>
          <p:cNvPr id="4" name="matriz-acces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377440"/>
                <a:gridCol w="1645920"/>
                <a:gridCol w="173736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Pestaña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Infraestructura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Bodega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Maestro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 colegio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Subsanar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Bodega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 chica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la 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la 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la 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los suyos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 colegios*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7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Asignaciones, rutas, fotos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AA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C7A"/>
                </a:solidFill>
              </a:rPr>
              <a:t>* El Maestro ve los colegios que el Coordinador le asignó; si no tiene ninguno asignado, ve toda la red.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C7A"/>
                </a:solidFill>
              </a:rPr>
              <a:t>Reportan las fallas de su colegio y siguen sus tickets</a:t>
            </a:r>
            <a:endParaRPr lang="en-US" sz="1600" dirty="0"/>
          </a:p>
        </p:txBody>
      </p:sp>
      <p:sp>
        <p:nvSpPr>
          <p:cNvPr id="4" name="caja-Puede"/>
          <p:cNvSpPr/>
          <p:nvPr/>
        </p:nvSpPr>
        <p:spPr>
          <a:xfrm>
            <a:off x="548640" y="1737360"/>
            <a:ext cx="5943600" cy="3886200"/>
          </a:xfrm>
          <a:prstGeom prst="roundRect">
            <a:avLst>
              <a:gd name="adj" fmla="val 2353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Puede</a:t>
            </a:r>
            <a:endParaRPr lang="en-US" sz="2000" dirty="0"/>
          </a:p>
        </p:txBody>
      </p:sp>
      <p:pic>
        <p:nvPicPr>
          <p:cNvPr id="6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4688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Levantar fallas de su colegio (queda fijo; 1 a 3 fotos)</a:t>
            </a:r>
            <a:endParaRPr lang="en-US" sz="1500" dirty="0"/>
          </a:p>
        </p:txBody>
      </p:sp>
      <p:pic>
        <p:nvPicPr>
          <p:cNvPr id="8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2461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Reportar emergencias con el botón 🚨 (ticket de prioridad Alta)</a:t>
            </a:r>
            <a:endParaRPr lang="en-US" sz="15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0233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Ver el estado de los tickets que él levantó</a:t>
            </a:r>
            <a:endParaRPr lang="en-US" sz="150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463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Agregar fotografías a esos tickets</a:t>
            </a:r>
            <a:endParaRPr lang="en-US" sz="1500" dirty="0"/>
          </a:p>
        </p:txBody>
      </p:sp>
      <p:sp>
        <p:nvSpPr>
          <p:cNvPr id="14" name="caja-No puede"/>
          <p:cNvSpPr/>
          <p:nvPr/>
        </p:nvSpPr>
        <p:spPr>
          <a:xfrm>
            <a:off x="6675120" y="173736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9494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puede</a:t>
            </a:r>
            <a:endParaRPr lang="en-US" sz="200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5146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360920" y="2468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Ver tickets de otros colegios ni de otros usuarios</a:t>
            </a:r>
            <a:endParaRPr lang="en-US" sz="150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29184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360920" y="3246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Subsanar ni cerrar trabajos</a:t>
            </a:r>
            <a:endParaRPr lang="en-US" sz="150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0690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360920" y="4023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Cambiar prioridades</a:t>
            </a:r>
            <a:endParaRPr lang="en-US" sz="1500" dirty="0"/>
          </a:p>
        </p:txBody>
      </p:sp>
      <p:pic>
        <p:nvPicPr>
          <p:cNvPr id="22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484632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360920" y="4800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Entrar a Bodega, Gestión ni Seguimiento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3D3E"/>
                </a:solidFill>
              </a:rPr>
              <a:t>Recibe por correo el aviso del ticket que creó y el aviso de cierre.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C7A"/>
                </a:solidFill>
              </a:rPr>
              <a:t>Ejecutan los trabajos y dejan el registro con fotos</a:t>
            </a:r>
            <a:endParaRPr lang="en-US" sz="1600" dirty="0"/>
          </a:p>
        </p:txBody>
      </p:sp>
      <p:sp>
        <p:nvSpPr>
          <p:cNvPr id="4" name="caja-Puede"/>
          <p:cNvSpPr/>
          <p:nvPr/>
        </p:nvSpPr>
        <p:spPr>
          <a:xfrm>
            <a:off x="548640" y="1737360"/>
            <a:ext cx="5943600" cy="3886200"/>
          </a:xfrm>
          <a:prstGeom prst="roundRect">
            <a:avLst>
              <a:gd name="adj" fmla="val 2353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Puede</a:t>
            </a:r>
            <a:endParaRPr lang="en-US" sz="2000" dirty="0"/>
          </a:p>
        </p:txBody>
      </p:sp>
      <p:pic>
        <p:nvPicPr>
          <p:cNvPr id="6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4688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Ver los tickets de los colegios que le asignaron</a:t>
            </a:r>
            <a:endParaRPr lang="en-US" sz="1500" dirty="0"/>
          </a:p>
        </p:txBody>
      </p:sp>
      <p:pic>
        <p:nvPicPr>
          <p:cNvPr id="8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2461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Registrar la subsanación: acción, detalle, fotos del después y horas</a:t>
            </a:r>
            <a:endParaRPr lang="en-US" sz="15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0233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Declarar solo material que retiró de Bodega con vale</a:t>
            </a:r>
            <a:endParaRPr lang="en-US" sz="150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8463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4800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Reportar emergencias con el botón 🚨</a:t>
            </a:r>
            <a:endParaRPr lang="en-US" sz="1500" dirty="0"/>
          </a:p>
        </p:txBody>
      </p:sp>
      <p:sp>
        <p:nvSpPr>
          <p:cNvPr id="14" name="caja-No puede"/>
          <p:cNvSpPr/>
          <p:nvPr/>
        </p:nvSpPr>
        <p:spPr>
          <a:xfrm>
            <a:off x="6675120" y="173736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69494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puede</a:t>
            </a:r>
            <a:endParaRPr lang="en-US" sz="200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5146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360920" y="2468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Levantar fallas nuevas desde el formulario</a:t>
            </a:r>
            <a:endParaRPr lang="en-US" sz="1500" dirty="0"/>
          </a:p>
        </p:txBody>
      </p:sp>
      <p:pic>
        <p:nvPicPr>
          <p:cNvPr id="18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29184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360920" y="3246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Dar por cerrado un ticket: queda "Ejecutado" hasta el OK</a:t>
            </a:r>
            <a:endParaRPr lang="en-US" sz="150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0690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360920" y="4023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Cambiar prioridades ni asignar trabajos</a:t>
            </a:r>
            <a:endParaRPr lang="en-US" sz="1500" dirty="0"/>
          </a:p>
        </p:txBody>
      </p:sp>
      <p:pic>
        <p:nvPicPr>
          <p:cNvPr id="22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484632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360920" y="4800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Entrar a Bodega, Gestión ni Seguimiento</a:t>
            </a:r>
            <a:endParaRPr lang="en-US" sz="1500" dirty="0"/>
          </a:p>
        </p:txBody>
      </p:sp>
      <p:sp>
        <p:nvSpPr>
          <p:cNvPr id="24" name="Text 14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3D3E"/>
                </a:solidFill>
              </a:rPr>
              <a:t>Al terminar, el ticket pasa a Ejecutado y espera el OK de Infraestructura o del gestor de la comuna.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Bodega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C7A"/>
                </a:solidFill>
              </a:rPr>
              <a:t>Controlan el stock, las entregas y la caja chica</a:t>
            </a:r>
            <a:endParaRPr lang="en-US" sz="1600" dirty="0"/>
          </a:p>
        </p:txBody>
      </p:sp>
      <p:sp>
        <p:nvSpPr>
          <p:cNvPr id="4" name="caja-Puede"/>
          <p:cNvSpPr/>
          <p:nvPr/>
        </p:nvSpPr>
        <p:spPr>
          <a:xfrm>
            <a:off x="548640" y="1737360"/>
            <a:ext cx="5943600" cy="3886200"/>
          </a:xfrm>
          <a:prstGeom prst="roundRect">
            <a:avLst>
              <a:gd name="adj" fmla="val 2353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Puede</a:t>
            </a:r>
            <a:endParaRPr lang="en-US" sz="2000" dirty="0"/>
          </a:p>
        </p:txBody>
      </p:sp>
      <p:pic>
        <p:nvPicPr>
          <p:cNvPr id="6" name="marc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46888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Inventario y stock de materiales y herramientas</a:t>
            </a:r>
            <a:endParaRPr lang="en-US" sz="1500" dirty="0"/>
          </a:p>
        </p:txBody>
      </p:sp>
      <p:pic>
        <p:nvPicPr>
          <p:cNvPr id="8" name="marc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327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98704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Entregar materiales con vale a un maestro</a:t>
            </a:r>
            <a:endParaRPr lang="en-US" sz="1500" dirty="0"/>
          </a:p>
        </p:txBody>
      </p:sp>
      <p:pic>
        <p:nvPicPr>
          <p:cNvPr id="10" name="marc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509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50520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Custodia de herramientas, sin tocar el stock</a:t>
            </a:r>
            <a:endParaRPr lang="en-US" sz="1500" dirty="0"/>
          </a:p>
        </p:txBody>
      </p:sp>
      <p:pic>
        <p:nvPicPr>
          <p:cNvPr id="12" name="marc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8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402336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Recibir compras y facturas (la IA lee el documento)</a:t>
            </a:r>
            <a:endParaRPr lang="en-US" sz="1500" dirty="0"/>
          </a:p>
        </p:txBody>
      </p:sp>
      <p:pic>
        <p:nvPicPr>
          <p:cNvPr id="14" name="marc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872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34440" y="454152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Caja chica: registrar compras y ver el reporte</a:t>
            </a:r>
            <a:endParaRPr lang="en-US" sz="1500" dirty="0"/>
          </a:p>
        </p:txBody>
      </p:sp>
      <p:pic>
        <p:nvPicPr>
          <p:cNvPr id="16" name="marc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10540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234440" y="5059680"/>
            <a:ext cx="498348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Ver los tickets de toda la red</a:t>
            </a:r>
            <a:endParaRPr lang="en-US" sz="1500" dirty="0"/>
          </a:p>
        </p:txBody>
      </p:sp>
      <p:sp>
        <p:nvSpPr>
          <p:cNvPr id="18" name="caja-No puede"/>
          <p:cNvSpPr/>
          <p:nvPr/>
        </p:nvSpPr>
        <p:spPr>
          <a:xfrm>
            <a:off x="6675120" y="173736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694944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3A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puede</a:t>
            </a:r>
            <a:endParaRPr lang="en-US" sz="2000" dirty="0"/>
          </a:p>
        </p:txBody>
      </p:sp>
      <p:pic>
        <p:nvPicPr>
          <p:cNvPr id="20" name="marc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51460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360920" y="246888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Levantar fallas ni subsanarlas</a:t>
            </a:r>
            <a:endParaRPr lang="en-US" sz="1500" dirty="0"/>
          </a:p>
        </p:txBody>
      </p:sp>
      <p:pic>
        <p:nvPicPr>
          <p:cNvPr id="22" name="marc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291840"/>
            <a:ext cx="274320" cy="274320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7360920" y="32461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Cambiar prioridades ni cerrar tickets</a:t>
            </a:r>
            <a:endParaRPr lang="en-US" sz="1500" dirty="0"/>
          </a:p>
        </p:txBody>
      </p:sp>
      <p:pic>
        <p:nvPicPr>
          <p:cNvPr id="24" name="marc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4069080"/>
            <a:ext cx="274320" cy="27432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7360920" y="40233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Entrar a Gestión ni Seguimiento</a:t>
            </a:r>
            <a:endParaRPr lang="en-US" sz="1500" dirty="0"/>
          </a:p>
        </p:txBody>
      </p:sp>
      <p:pic>
        <p:nvPicPr>
          <p:cNvPr id="26" name="marca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4846320"/>
            <a:ext cx="274320" cy="27432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7360920" y="4800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B2B"/>
                </a:solidFill>
              </a:rPr>
              <a:t>Administrar usuarios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F3D3E"/>
                </a:solidFill>
              </a:rPr>
              <a:t>Lo que Bodega entrega es lo único que el maestro puede declarar como material usado.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y Coordinador</a:t>
            </a:r>
            <a:endParaRPr lang="en-US" sz="3600" dirty="0"/>
          </a:p>
        </p:txBody>
      </p:sp>
      <p:sp>
        <p:nvSpPr>
          <p:cNvPr id="3" name="caja-Infraestructura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-fondo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5" name="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 y administra todo: todas las pestañas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Fija la prioridad y asigna el gestor de cada ticket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 los cierres de los maestros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Empresas, órdenes de compra, usuarios y catálogos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Reportería, analítica con IA y seguimiento</a:t>
            </a:r>
            <a:endParaRPr lang="en-US" sz="1600" dirty="0"/>
          </a:p>
        </p:txBody>
      </p:sp>
      <p:sp>
        <p:nvSpPr>
          <p:cNvPr id="8" name="caja-Coordinador"/>
          <p:cNvSpPr/>
          <p:nvPr/>
        </p:nvSpPr>
        <p:spPr>
          <a:xfrm>
            <a:off x="6217920" y="1463040"/>
            <a:ext cx="53949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-fondo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rgbClr val="5B7C7A"/>
          </a:solidFill>
          <a:ln w="12700">
            <a:solidFill>
              <a:srgbClr val="5B7C7A"/>
            </a:solidFill>
            <a:prstDash val="solid"/>
          </a:ln>
        </p:spPr>
      </p:sp>
      <p:pic>
        <p:nvPicPr>
          <p:cNvPr id="10" name="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06640" y="1691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Coordinador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Asigna colegios a maestros y directores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Define el gestor de cada comuna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Importa la planificación de rutas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Galería de fotos de todos los tickets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levanta ni subsana; ve los tickets de la red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actúa en cada paso del ticket</a:t>
            </a:r>
            <a:endParaRPr lang="en-US" sz="3600" dirty="0"/>
          </a:p>
        </p:txBody>
      </p:sp>
      <p:sp>
        <p:nvSpPr>
          <p:cNvPr id="3" name="paso-1"/>
          <p:cNvSpPr/>
          <p:nvPr/>
        </p:nvSpPr>
        <p:spPr>
          <a:xfrm>
            <a:off x="1188720" y="1737360"/>
            <a:ext cx="822960" cy="8229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flecha-1"/>
          <p:cNvSpPr/>
          <p:nvPr/>
        </p:nvSpPr>
        <p:spPr>
          <a:xfrm>
            <a:off x="2148840" y="2148840"/>
            <a:ext cx="1005840" cy="0"/>
          </a:xfrm>
          <a:prstGeom prst="line">
            <a:avLst/>
          </a:prstGeom>
          <a:noFill/>
          <a:ln w="25400">
            <a:solidFill>
              <a:srgbClr val="9AAFAC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Director o Infraestructura</a:t>
            </a:r>
            <a:endParaRPr lang="en-US" sz="1500" dirty="0"/>
          </a:p>
        </p:txBody>
      </p:sp>
      <p:sp>
        <p:nvSpPr>
          <p:cNvPr id="8" name="paso-2"/>
          <p:cNvSpPr/>
          <p:nvPr/>
        </p:nvSpPr>
        <p:spPr>
          <a:xfrm>
            <a:off x="3429000" y="1737360"/>
            <a:ext cx="822960" cy="8229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flecha-2"/>
          <p:cNvSpPr/>
          <p:nvPr/>
        </p:nvSpPr>
        <p:spPr>
          <a:xfrm>
            <a:off x="4389120" y="2148840"/>
            <a:ext cx="1005840" cy="0"/>
          </a:xfrm>
          <a:prstGeom prst="line">
            <a:avLst/>
          </a:prstGeom>
          <a:noFill/>
          <a:ln w="25400">
            <a:solidFill>
              <a:srgbClr val="9AAFAC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7889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Infraestructura</a:t>
            </a:r>
            <a:endParaRPr lang="en-US" sz="1500" dirty="0"/>
          </a:p>
        </p:txBody>
      </p:sp>
      <p:sp>
        <p:nvSpPr>
          <p:cNvPr id="13" name="paso-3"/>
          <p:cNvSpPr/>
          <p:nvPr/>
        </p:nvSpPr>
        <p:spPr>
          <a:xfrm>
            <a:off x="5669280" y="1737360"/>
            <a:ext cx="822960" cy="82296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5" name="flecha-3"/>
          <p:cNvSpPr/>
          <p:nvPr/>
        </p:nvSpPr>
        <p:spPr>
          <a:xfrm>
            <a:off x="6629400" y="2148840"/>
            <a:ext cx="1005840" cy="0"/>
          </a:xfrm>
          <a:prstGeom prst="line">
            <a:avLst/>
          </a:prstGeom>
          <a:noFill/>
          <a:ln w="25400">
            <a:solidFill>
              <a:srgbClr val="9AAFA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0292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Retirar material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Bodega entrega con vale</a:t>
            </a:r>
            <a:endParaRPr lang="en-US" sz="1500" dirty="0"/>
          </a:p>
        </p:txBody>
      </p:sp>
      <p:sp>
        <p:nvSpPr>
          <p:cNvPr id="18" name="paso-4"/>
          <p:cNvSpPr/>
          <p:nvPr/>
        </p:nvSpPr>
        <p:spPr>
          <a:xfrm>
            <a:off x="7909560" y="1737360"/>
            <a:ext cx="822960" cy="82296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flecha-4"/>
          <p:cNvSpPr/>
          <p:nvPr/>
        </p:nvSpPr>
        <p:spPr>
          <a:xfrm>
            <a:off x="8869680" y="2148840"/>
            <a:ext cx="1005840" cy="0"/>
          </a:xfrm>
          <a:prstGeom prst="line">
            <a:avLst/>
          </a:prstGeom>
          <a:noFill/>
          <a:ln w="25400">
            <a:solidFill>
              <a:srgbClr val="9AAFA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2694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Subsanar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Maestro; queda Ejecutado</a:t>
            </a:r>
            <a:endParaRPr lang="en-US" sz="1500" dirty="0"/>
          </a:p>
        </p:txBody>
      </p:sp>
      <p:sp>
        <p:nvSpPr>
          <p:cNvPr id="23" name="paso-5"/>
          <p:cNvSpPr/>
          <p:nvPr/>
        </p:nvSpPr>
        <p:spPr>
          <a:xfrm>
            <a:off x="10149840" y="1737360"/>
            <a:ext cx="822960" cy="8229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y cerrar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3246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Infraestructura o gestor de comuna</a:t>
            </a:r>
            <a:endParaRPr lang="en-US" sz="1500" dirty="0"/>
          </a:p>
        </p:txBody>
      </p:sp>
      <p:sp>
        <p:nvSpPr>
          <p:cNvPr id="27" name="aviso-reabierto"/>
          <p:cNvSpPr/>
          <p:nvPr/>
        </p:nvSpPr>
        <p:spPr>
          <a:xfrm>
            <a:off x="548640" y="44805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3DC"/>
          </a:solidFill>
          <a:ln w="12700">
            <a:solidFill>
              <a:srgbClr val="FFF3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5720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B"/>
                </a:solidFill>
              </a:rPr>
              <a:t>Si el trabajo no queda conforme: </a:t>
            </a:r>
            <a:pPr indent="0" marL="0">
              <a:buNone/>
            </a:pPr>
            <a:r>
              <a:rPr lang="en-US" sz="1600" dirty="0">
                <a:solidFill>
                  <a:srgbClr val="1B2B2B"/>
                </a:solidFill>
              </a:rPr>
              <a:t>el ticket pasa a Reabierto y vuelve a la bandeja del maestro. El gestor de la comuna puede dar el OK o rechazar desde el enlace del correo; si el cierre lo hace Infraestructura, el ticket se cierra directo.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para confirmar con la jefatura</a:t>
            </a:r>
            <a:endParaRPr lang="en-US" sz="3600" dirty="0"/>
          </a:p>
        </p:txBody>
      </p:sp>
      <p:sp>
        <p:nvSpPr>
          <p:cNvPr id="3" name="punto-1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B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83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sin colegios asignados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Hoy ve toda la red. ¿Se asigna siempre al menos un colegio?</a:t>
            </a:r>
            <a:endParaRPr lang="en-US" sz="1500" dirty="0"/>
          </a:p>
        </p:txBody>
      </p:sp>
      <p:sp>
        <p:nvSpPr>
          <p:cNvPr id="8" name="punto-2"/>
          <p:cNvSpPr/>
          <p:nvPr/>
        </p:nvSpPr>
        <p:spPr>
          <a:xfrm>
            <a:off x="6172200" y="155448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B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783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Bodega y Coordinador ven todos los tickets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603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Hoy lo ven de toda la red. ¿Se restringe por comuna?</a:t>
            </a:r>
            <a:endParaRPr lang="en-US" sz="1500" dirty="0"/>
          </a:p>
        </p:txBody>
      </p:sp>
      <p:sp>
        <p:nvSpPr>
          <p:cNvPr id="13" name="punto-3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B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Botón de emergencia abierto a todos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Todos los perfiles pueden crear un ticket de emergencia (Alta).</a:t>
            </a:r>
            <a:endParaRPr lang="en-US" sz="1500" dirty="0"/>
          </a:p>
        </p:txBody>
      </p:sp>
      <p:sp>
        <p:nvSpPr>
          <p:cNvPr id="18" name="punto-4"/>
          <p:cNvSpPr/>
          <p:nvPr/>
        </p:nvSpPr>
        <p:spPr>
          <a:xfrm>
            <a:off x="617220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4"/>
          <p:cNvSpPr/>
          <p:nvPr/>
        </p:nvSpPr>
        <p:spPr>
          <a:xfrm>
            <a:off x="6446520" y="4069080"/>
            <a:ext cx="548640" cy="54864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B2B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023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Gestor de comuna sin perfil propio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 el OK por correo. ¿Debe tener acceso a la app para ver sus tickets?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7C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antApp">
  <a:themeElements>
    <a:clrScheme name="LevantApp">
      <a:dk1>
        <a:srgbClr val="1B2B2B"/>
      </a:dk1>
      <a:lt1>
        <a:srgbClr val="FFFFFF"/>
      </a:lt1>
      <a:dk2>
        <a:srgbClr val="0F3D3E"/>
      </a:dk2>
      <a:lt2>
        <a:srgbClr val="EEF4F2"/>
      </a:lt2>
      <a:accent1>
        <a:srgbClr val="0E7C7B"/>
      </a:accent1>
      <a:accent2>
        <a:srgbClr val="F2A33A"/>
      </a:accent2>
      <a:accent3>
        <a:srgbClr val="C8553D"/>
      </a:accent3>
      <a:accent4>
        <a:srgbClr val="2E8B57"/>
      </a:accent4>
      <a:accent5>
        <a:srgbClr val="5B7C7A"/>
      </a:accent5>
      <a:accent6>
        <a:srgbClr val="D8E6E2"/>
      </a:accent6>
      <a:hlink>
        <a:srgbClr val="0E7C7B"/>
      </a:hlink>
      <a:folHlink>
        <a:srgbClr val="5B7C7A"/>
      </a:folHlink>
    </a:clrScheme>
    <a:fontScheme name="LevantAp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Accesos por perfil · LevantApp</dc:title>
  <dc:subject>PptxGenJS Presentation</dc:subject>
  <dc:creator>SLEP Puelche</dc:creator>
  <cp:lastModifiedBy>SLEP Puelche</cp:lastModifiedBy>
  <cp:revision>1</cp:revision>
  <dcterms:created xsi:type="dcterms:W3CDTF">2026-10-07T20:17:05Z</dcterms:created>
  <dcterms:modified xsi:type="dcterms:W3CDTF">2026-10-07T20:17:05Z</dcterms:modified>
</cp:coreProperties>
</file>